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7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Fat Content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6F8-4BB7-97C8-1BF7B49333CD}"/>
              </c:ext>
            </c:extLst>
          </c:dPt>
          <c:dPt>
            <c:idx val="1"/>
            <c:bubble3D val="0"/>
            <c:spPr>
              <a:solidFill>
                <a:srgbClr val="F5C51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6F8-4BB7-97C8-1BF7B49333C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6F8-4BB7-97C8-1BF7B49333C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6F8-4BB7-97C8-1BF7B49333C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Low Fat</c:v>
                </c:pt>
                <c:pt idx="1">
                  <c:v>Regular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776319</c:v>
                </c:pt>
                <c:pt idx="1">
                  <c:v>425362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6F8-4BB7-97C8-1BF7B49333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DE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893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C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280160"/>
            <a:ext cx="9144000" cy="64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1097280"/>
            <a:ext cx="4114800" cy="4114800"/>
          </a:xfrm>
          <a:prstGeom prst="ellipse">
            <a:avLst/>
          </a:prstGeom>
          <a:solidFill>
            <a:srgbClr val="1B5E20">
              <a:alpha val="12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2743200"/>
            <a:ext cx="2286000" cy="228600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82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blinkit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84048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1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Last Minute App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Sales Performance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Analytics Report</a:t>
            </a:r>
            <a:endParaRPr lang="en-US" sz="4600" dirty="0"/>
          </a:p>
        </p:txBody>
      </p:sp>
      <p:sp>
        <p:nvSpPr>
          <p:cNvPr id="11" name="Shape 9"/>
          <p:cNvSpPr/>
          <p:nvPr/>
        </p:nvSpPr>
        <p:spPr>
          <a:xfrm>
            <a:off x="457200" y="3218688"/>
            <a:ext cx="6400800" cy="5486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Analysis of Sales · Customer Satisfaction · Inventory Distribution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715000" y="419953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Ajay Yadla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784980" y="4056219"/>
            <a:ext cx="16673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by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910328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9144000" cy="640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kern="0" spc="50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REQUIREMENT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47472" y="64922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objective, KPI requirements, Granular &amp; Chart specifications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8600" y="1161288"/>
            <a:ext cx="2834640" cy="3648456"/>
          </a:xfrm>
          <a:prstGeom prst="rect">
            <a:avLst/>
          </a:prstGeom>
          <a:solidFill>
            <a:srgbClr val="FFFDE7"/>
          </a:solidFill>
          <a:ln w="1905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161288"/>
            <a:ext cx="2834640" cy="640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61872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PROJECT OBJECTIVE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7472" y="1554480"/>
            <a:ext cx="26151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conduct a comprehensive analysis of Blinkit's sales performance, customer satisfaction, and inventory distribution to identify key insights and opportunities for optimization using KPIs and visualizations in Power BI.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47472" y="2359152"/>
            <a:ext cx="2615184" cy="36576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2450592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KPI'S REQUIREMENTS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843784"/>
            <a:ext cx="320040" cy="32004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8437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28163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2999232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revenue from all items sold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65760" y="3273552"/>
            <a:ext cx="320040" cy="32004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73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2461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Sales: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3429000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revenue per sale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65760" y="3703320"/>
            <a:ext cx="320040" cy="32004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36758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Items: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3858768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count of items sold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65760" y="4133088"/>
            <a:ext cx="320040" cy="32004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1330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410565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Rating: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" y="4288536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customer rating for items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246120" y="1161288"/>
            <a:ext cx="2834640" cy="3643884"/>
          </a:xfrm>
          <a:prstGeom prst="rect">
            <a:avLst/>
          </a:prstGeom>
          <a:solidFill>
            <a:srgbClr val="FFFDE7"/>
          </a:solidFill>
          <a:ln w="1905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46120" y="1161288"/>
            <a:ext cx="283464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64992" y="1261872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GRANULAR REQUIREMENTS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64992" y="1627632"/>
            <a:ext cx="320040" cy="3200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64992" y="16276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776472" y="1600200"/>
            <a:ext cx="2176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 by Fat Content: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776472" y="1847088"/>
            <a:ext cx="21762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impact of fat content on total sales + KPIs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364992" y="2450592"/>
            <a:ext cx="320040" cy="3200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64992" y="2450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776472" y="2423160"/>
            <a:ext cx="2176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 by Item Type: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776472" y="2670048"/>
            <a:ext cx="21762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of item types in terms of total sales + KPIs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364992" y="3273552"/>
            <a:ext cx="320040" cy="3200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64992" y="3273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776472" y="3246120"/>
            <a:ext cx="2176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 Content by Outlet for Total Sales: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776472" y="3493008"/>
            <a:ext cx="21762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total sales across outlets by fat content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364992" y="4096512"/>
            <a:ext cx="320040" cy="3200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64992" y="40965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776472" y="4069080"/>
            <a:ext cx="21762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 by Outlet Establishment: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3776472" y="4315968"/>
            <a:ext cx="21762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age of outlet establishment influences total sales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263640" y="1161288"/>
            <a:ext cx="2651760" cy="3648456"/>
          </a:xfrm>
          <a:prstGeom prst="rect">
            <a:avLst/>
          </a:prstGeom>
          <a:solidFill>
            <a:srgbClr val="FFFDE7"/>
          </a:solidFill>
          <a:ln w="1905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263640" y="1161288"/>
            <a:ext cx="2651760" cy="640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82512" y="1261872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CHART'S REQUIREMENTS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382512" y="1664208"/>
            <a:ext cx="320040" cy="3200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82512" y="166420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784848" y="163677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Sales by Outlet Size: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784848" y="188366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correlation between outlet size and total sales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382512" y="2715768"/>
            <a:ext cx="320040" cy="3200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82512" y="27157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784848" y="268833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by Outlet Location: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784848" y="293522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geographic distribution of sales across locations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382512" y="3767328"/>
            <a:ext cx="320040" cy="320040"/>
          </a:xfrm>
          <a:prstGeom prst="ellipse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82512" y="37673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784848" y="3739896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Metrics by Outlet Type: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784848" y="398678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Sales, Avg Sales, No. of Items, Avg Rating by outlet type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9144000" cy="640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kern="0" spc="50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KPI'S REQUIREMENTS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47472" y="64922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Key Performance Indicators — Foundation of the Blinkit Sales Analysis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161288"/>
            <a:ext cx="4160520" cy="1591056"/>
          </a:xfrm>
          <a:prstGeom prst="rect">
            <a:avLst/>
          </a:prstGeom>
          <a:solidFill>
            <a:srgbClr val="FFFDE7"/>
          </a:solidFill>
          <a:ln w="2540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61288"/>
            <a:ext cx="4160520" cy="8229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2670048"/>
            <a:ext cx="4160520" cy="8229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" y="1362456"/>
            <a:ext cx="320040" cy="32004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" y="1362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41832" y="1316736"/>
            <a:ext cx="530352" cy="530352"/>
          </a:xfrm>
          <a:prstGeom prst="ellipse">
            <a:avLst/>
          </a:prstGeom>
          <a:solidFill>
            <a:srgbClr val="1B5E20">
              <a:alpha val="88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13167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18488" y="128930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$1.20M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466344" y="19293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" y="2221992"/>
            <a:ext cx="3840480" cy="2743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" y="2286000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overall revenue generated from all items sold across all outlets, categories, and locations.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1161288"/>
            <a:ext cx="4160520" cy="1591056"/>
          </a:xfrm>
          <a:prstGeom prst="rect">
            <a:avLst/>
          </a:prstGeom>
          <a:solidFill>
            <a:srgbClr val="FFFDE7"/>
          </a:solidFill>
          <a:ln w="2540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161288"/>
            <a:ext cx="4160520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670048"/>
            <a:ext cx="4160520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01184" y="1362456"/>
            <a:ext cx="320040" cy="3200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01184" y="13624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76672" y="1316736"/>
            <a:ext cx="530352" cy="530352"/>
          </a:xfrm>
          <a:prstGeom prst="ellipse">
            <a:avLst/>
          </a:prstGeom>
          <a:solidFill>
            <a:srgbClr val="2E7D32">
              <a:alpha val="88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76672" y="13167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053328" y="128930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$141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4901184" y="19293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SALES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01184" y="2221992"/>
            <a:ext cx="3840480" cy="2743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01184" y="2286000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average revenue earned per individual sale transaction across the entire dataset.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2953512"/>
            <a:ext cx="4160520" cy="1591056"/>
          </a:xfrm>
          <a:prstGeom prst="rect">
            <a:avLst/>
          </a:prstGeom>
          <a:solidFill>
            <a:srgbClr val="FFFDE7"/>
          </a:solidFill>
          <a:ln w="2540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2953512"/>
            <a:ext cx="4160520" cy="8229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" y="4462272"/>
            <a:ext cx="4160520" cy="8229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" y="3154680"/>
            <a:ext cx="320040" cy="32004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41832" y="3108960"/>
            <a:ext cx="530352" cy="530352"/>
          </a:xfrm>
          <a:prstGeom prst="ellipse">
            <a:avLst/>
          </a:prstGeom>
          <a:solidFill>
            <a:srgbClr val="1B5E20">
              <a:alpha val="88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1832" y="31089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618488" y="308152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8,523</a:t>
            </a:r>
            <a:endParaRPr lang="en-US" sz="3800" dirty="0"/>
          </a:p>
        </p:txBody>
      </p:sp>
      <p:sp>
        <p:nvSpPr>
          <p:cNvPr id="36" name="Text 34"/>
          <p:cNvSpPr/>
          <p:nvPr/>
        </p:nvSpPr>
        <p:spPr>
          <a:xfrm>
            <a:off x="466344" y="37216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ITEMS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" y="4014216"/>
            <a:ext cx="3840480" cy="2743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" y="4078224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total count of different items sold — representing the breadth of product reach across all outlets.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2953512"/>
            <a:ext cx="4160520" cy="1591056"/>
          </a:xfrm>
          <a:prstGeom prst="rect">
            <a:avLst/>
          </a:prstGeom>
          <a:solidFill>
            <a:srgbClr val="FFFDE7"/>
          </a:solidFill>
          <a:ln w="2540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2953512"/>
            <a:ext cx="4160520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4462272"/>
            <a:ext cx="4160520" cy="822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01184" y="3154680"/>
            <a:ext cx="320040" cy="3200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01184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376672" y="3108960"/>
            <a:ext cx="530352" cy="530352"/>
          </a:xfrm>
          <a:prstGeom prst="ellipse">
            <a:avLst/>
          </a:prstGeom>
          <a:solidFill>
            <a:srgbClr val="2E7D32">
              <a:alpha val="88000"/>
            </a:srgbClr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76672" y="31089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⭐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6053328" y="308152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3.97★</a:t>
            </a:r>
            <a:endParaRPr lang="en-US" sz="3800" dirty="0"/>
          </a:p>
        </p:txBody>
      </p:sp>
      <p:sp>
        <p:nvSpPr>
          <p:cNvPr id="47" name="Text 45"/>
          <p:cNvSpPr/>
          <p:nvPr/>
        </p:nvSpPr>
        <p:spPr>
          <a:xfrm>
            <a:off x="4901184" y="37216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RATING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901184" y="4014216"/>
            <a:ext cx="3840480" cy="27432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01184" y="4078224"/>
            <a:ext cx="3840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average customer satisfaction rating for items sold, measured on a 5-star scale.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46908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These 4 KPIs measure revenue, efficiency, product reach, and customer satisfaction — driving every chart in this report</a:t>
            </a:r>
            <a:endParaRPr lang="en-US" sz="1000" dirty="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3E9F9FA1-3F42-B3B7-8A5A-39743E2D0F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88" t="4319" r="63719" b="80847"/>
          <a:stretch>
            <a:fillRect/>
          </a:stretch>
        </p:blipFill>
        <p:spPr>
          <a:xfrm>
            <a:off x="1590253" y="1284298"/>
            <a:ext cx="2068149" cy="736526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6C2BA742-639F-3030-D2B9-F3969FE8FA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716" t="4496" r="44482" b="81661"/>
          <a:stretch>
            <a:fillRect/>
          </a:stretch>
        </p:blipFill>
        <p:spPr>
          <a:xfrm>
            <a:off x="5995775" y="1278636"/>
            <a:ext cx="1912877" cy="687324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BA08C2C5-DCAD-EEDD-AB3F-4F3D6B75D3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63" t="19806" r="63844" b="66667"/>
          <a:stretch>
            <a:fillRect/>
          </a:stretch>
        </p:blipFill>
        <p:spPr>
          <a:xfrm>
            <a:off x="5980689" y="3077390"/>
            <a:ext cx="1916850" cy="671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FC7C7A8B-8338-8D01-916E-E4433B979C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934" t="19773" r="44847" b="66690"/>
          <a:stretch>
            <a:fillRect/>
          </a:stretch>
        </p:blipFill>
        <p:spPr>
          <a:xfrm>
            <a:off x="1540763" y="3063240"/>
            <a:ext cx="2117639" cy="7040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9144000" cy="640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kern="0" spc="50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· TOTAL SALES BY FAT CONTENT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47472" y="64922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Analyzing the impact of fat content on total sales and additional KPI metrics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39" y="1161288"/>
            <a:ext cx="4114801" cy="1234440"/>
          </a:xfrm>
          <a:prstGeom prst="rect">
            <a:avLst/>
          </a:prstGeom>
          <a:solidFill>
            <a:srgbClr val="FFFDE7"/>
          </a:solidFill>
          <a:ln w="1905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61288"/>
            <a:ext cx="4114800" cy="640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5272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OBJECTIVE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1527048"/>
            <a:ext cx="38770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the impact of fat content (Low Fat vs Regular) on total sales, and assess how Average Sales, Number of Items, and Average Rating vary with fat content.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161288"/>
            <a:ext cx="4114800" cy="12344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61288"/>
            <a:ext cx="411480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25272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KEY INSIGHT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28032" y="1527048"/>
            <a:ext cx="38770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Fat products drive 64.6% of revenue ($776K), confirming strong health-conscious consumer preference consistently across all outlet types and locations.</a:t>
            </a:r>
            <a:endParaRPr lang="en-US" sz="95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320040" y="2514600"/>
          <a:ext cx="4114800" cy="2212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Shape 12"/>
          <p:cNvSpPr/>
          <p:nvPr/>
        </p:nvSpPr>
        <p:spPr>
          <a:xfrm>
            <a:off x="4709160" y="2514600"/>
            <a:ext cx="4114800" cy="502920"/>
          </a:xfrm>
          <a:prstGeom prst="rect">
            <a:avLst/>
          </a:prstGeom>
          <a:solidFill>
            <a:srgbClr val="FFFDE7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09160" y="2514600"/>
            <a:ext cx="64008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6320" y="256946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Fat Sales: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812280" y="256032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$776K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046720" y="26060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64.6%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09160" y="3070555"/>
            <a:ext cx="4114800" cy="502920"/>
          </a:xfrm>
          <a:prstGeom prst="rect">
            <a:avLst/>
          </a:prstGeom>
          <a:solidFill>
            <a:srgbClr val="FFFDE7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09160" y="3070555"/>
            <a:ext cx="64008" cy="5029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46320" y="3125419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Sales: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12280" y="3116275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6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$425K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046720" y="3161995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35.4%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709160" y="3626510"/>
            <a:ext cx="4114800" cy="502920"/>
          </a:xfrm>
          <a:prstGeom prst="rect">
            <a:avLst/>
          </a:prstGeom>
          <a:solidFill>
            <a:srgbClr val="FFFDE7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709160" y="3626510"/>
            <a:ext cx="64008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46320" y="368137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Fat Items: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812280" y="367223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5,517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8046720" y="371795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09160" y="4182466"/>
            <a:ext cx="4114800" cy="502920"/>
          </a:xfrm>
          <a:prstGeom prst="rect">
            <a:avLst/>
          </a:prstGeom>
          <a:solidFill>
            <a:srgbClr val="FFFDE7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709160" y="4182466"/>
            <a:ext cx="64008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0" y="423733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Items: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812280" y="4228186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3,006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8046720" y="427390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  ·  Chart 1: TOTAL SALES BY FAT CONTENT  ·  March 2026</a:t>
            </a:r>
            <a:endParaRPr lang="en-US" sz="9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93DD0729-687B-B1D0-A71D-E7EDDCFD35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829" t="42165" r="64329" b="33567"/>
          <a:stretch>
            <a:fillRect/>
          </a:stretch>
        </p:blipFill>
        <p:spPr>
          <a:xfrm>
            <a:off x="347473" y="2514600"/>
            <a:ext cx="4087368" cy="217078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9144000" cy="640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kern="0" spc="50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· TOTAL SALES BY ITEM TYPE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47472" y="64922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the performance of different item types in terms of total sales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161289"/>
            <a:ext cx="4114800" cy="804672"/>
          </a:xfrm>
          <a:prstGeom prst="rect">
            <a:avLst/>
          </a:prstGeom>
          <a:solidFill>
            <a:srgbClr val="FFFDE7"/>
          </a:solidFill>
          <a:ln w="1905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61288"/>
            <a:ext cx="4114800" cy="640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5272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OBJECTIVE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1060704"/>
            <a:ext cx="3877056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performance of different item types in terms of total sales, and assess how Average Sales, Number of Items, and Average Rating vary across item types.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161288"/>
            <a:ext cx="4114800" cy="12344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61288"/>
            <a:ext cx="411480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25272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KEY INSIGHT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28032" y="1527048"/>
            <a:ext cx="38770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Fruits &amp; Vegetables lead with $178K (14.8%), closely followed by Snack Foods at $175K (14.6%). Top 3 categories alone contribute 40.7% of total revenue.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709160" y="2514600"/>
            <a:ext cx="4114800" cy="502920"/>
          </a:xfrm>
          <a:prstGeom prst="rect">
            <a:avLst/>
          </a:prstGeom>
          <a:solidFill>
            <a:srgbClr val="FFFDE7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09160" y="2514600"/>
            <a:ext cx="64008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6320" y="256946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Fruits &amp; Veg: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812280" y="256032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$178K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046720" y="26060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14.8%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09160" y="3070555"/>
            <a:ext cx="4114800" cy="502920"/>
          </a:xfrm>
          <a:prstGeom prst="rect">
            <a:avLst/>
          </a:prstGeom>
          <a:solidFill>
            <a:srgbClr val="FFFDE7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09160" y="3070555"/>
            <a:ext cx="64008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46320" y="3125419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 Snack Foods: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12280" y="3116275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$175K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046720" y="3161995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14.6%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709160" y="3626510"/>
            <a:ext cx="4114800" cy="502920"/>
          </a:xfrm>
          <a:prstGeom prst="rect">
            <a:avLst/>
          </a:prstGeom>
          <a:solidFill>
            <a:srgbClr val="FFFDE7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709160" y="3626510"/>
            <a:ext cx="64008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46320" y="368137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 Household: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812280" y="367223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$136K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8046720" y="371795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11.3%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09160" y="4182466"/>
            <a:ext cx="4114800" cy="502920"/>
          </a:xfrm>
          <a:prstGeom prst="rect">
            <a:avLst/>
          </a:prstGeom>
          <a:solidFill>
            <a:srgbClr val="FFFDE7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709160" y="4182466"/>
            <a:ext cx="64008" cy="5029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0" y="423733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Combined: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812280" y="4228186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6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$489K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8046720" y="427390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40.7%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  ·  Chart 2: TOTAL SALES BY ITEM TYPE  ·  March 2026</a:t>
            </a:r>
            <a:endParaRPr lang="en-US" sz="9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A7A0C96-0699-3E8B-739B-8705DBD7CF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6516" t="40943" r="45549" b="6383"/>
          <a:stretch>
            <a:fillRect/>
          </a:stretch>
        </p:blipFill>
        <p:spPr>
          <a:xfrm>
            <a:off x="264267" y="2034488"/>
            <a:ext cx="4051398" cy="27122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9144000" cy="640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kern="0" spc="50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· FAT CONTENT BY OUTLET FOR TOTAL SALES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47472" y="64922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total sales across different outlets segmented by fat content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161288"/>
            <a:ext cx="4114800" cy="1234440"/>
          </a:xfrm>
          <a:prstGeom prst="rect">
            <a:avLst/>
          </a:prstGeom>
          <a:solidFill>
            <a:srgbClr val="FFFDE7"/>
          </a:solidFill>
          <a:ln w="1905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61288"/>
            <a:ext cx="4114800" cy="640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5272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OBJECTIVE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1527048"/>
            <a:ext cx="38770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total sales across outlets segmented by fat content. Assess how KPIs (Avg Sales, No. of Items, Avg Rating) vary with fat content across each outlet location tier.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161288"/>
            <a:ext cx="4114800" cy="12344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61288"/>
            <a:ext cx="411480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25272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KEY INSIGHT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28032" y="1527048"/>
            <a:ext cx="38770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outlets show the highest Low Fat sales at $0.31M. Across all tiers, Low Fat consistently outperforms Regular — confirming a universal consumer health preference.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709160" y="2514600"/>
            <a:ext cx="4114800" cy="502920"/>
          </a:xfrm>
          <a:prstGeom prst="rect">
            <a:avLst/>
          </a:prstGeom>
          <a:solidFill>
            <a:srgbClr val="FFFDE7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09160" y="2514600"/>
            <a:ext cx="64008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6320" y="256946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– Low Fat: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812280" y="256032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$0.31M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046720" y="26060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09160" y="3070555"/>
            <a:ext cx="4114800" cy="502920"/>
          </a:xfrm>
          <a:prstGeom prst="rect">
            <a:avLst/>
          </a:prstGeom>
          <a:solidFill>
            <a:srgbClr val="FFFDE7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09160" y="3070555"/>
            <a:ext cx="64008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46320" y="3125419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– Low Fat: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12280" y="3116275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$0.25M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046720" y="3161995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709160" y="3626510"/>
            <a:ext cx="4114800" cy="502920"/>
          </a:xfrm>
          <a:prstGeom prst="rect">
            <a:avLst/>
          </a:prstGeom>
          <a:solidFill>
            <a:srgbClr val="FFFDE7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709160" y="3626510"/>
            <a:ext cx="64008" cy="5029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46320" y="368137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– Low Fat: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812280" y="367223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6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$0.22M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8046720" y="371795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09160" y="4182466"/>
            <a:ext cx="4114800" cy="502920"/>
          </a:xfrm>
          <a:prstGeom prst="rect">
            <a:avLst/>
          </a:prstGeom>
          <a:solidFill>
            <a:srgbClr val="FFFDE7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709160" y="4182466"/>
            <a:ext cx="64008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0" y="423733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Trend: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812280" y="4228186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All Tiers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8046720" y="427390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Fat leads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  ·  Chart 3: FAT CONTENT BY OUTLET FOR TOTAL SALES  ·  March 2026</a:t>
            </a:r>
            <a:endParaRPr lang="en-US" sz="9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C0E1E949-4B99-FCF6-D878-1FAE38E8B0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897" t="66700" r="63848" b="4629"/>
          <a:stretch>
            <a:fillRect/>
          </a:stretch>
        </p:blipFill>
        <p:spPr>
          <a:xfrm>
            <a:off x="224058" y="2479853"/>
            <a:ext cx="4210782" cy="22201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9144000" cy="640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kern="0" spc="50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· TOTAL SALES BY OUTLET ESTABLISHMENT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47472" y="64922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Evaluating how the age of outlet establishment influences total sales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161288"/>
            <a:ext cx="4114800" cy="1234440"/>
          </a:xfrm>
          <a:prstGeom prst="rect">
            <a:avLst/>
          </a:prstGeom>
          <a:solidFill>
            <a:srgbClr val="FFFDE7"/>
          </a:solidFill>
          <a:ln w="1905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61288"/>
            <a:ext cx="4114800" cy="640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5272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OBJECTIVE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1527048"/>
            <a:ext cx="38770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how the year of outlet establishment influences total sales performance, identifying which establishment eras generate the most revenue.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161288"/>
            <a:ext cx="4114800" cy="12344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61288"/>
            <a:ext cx="411480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25272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KEY INSIGHT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28032" y="1527048"/>
            <a:ext cx="38770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Outlets established in 1998 generate the highest revenue at $205K — 57% above average. Mature stores benefit from decades of loyalty, optimized operations &amp; prime locations.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709160" y="2514600"/>
            <a:ext cx="4114800" cy="502920"/>
          </a:xfrm>
          <a:prstGeom prst="rect">
            <a:avLst/>
          </a:prstGeom>
          <a:solidFill>
            <a:srgbClr val="FFFDE7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09160" y="2514600"/>
            <a:ext cx="64008" cy="5029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6320" y="256946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Year: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812280" y="256032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6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1998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046720" y="26060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$205K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09160" y="3070555"/>
            <a:ext cx="4114800" cy="502920"/>
          </a:xfrm>
          <a:prstGeom prst="rect">
            <a:avLst/>
          </a:prstGeom>
          <a:solidFill>
            <a:srgbClr val="FFFDE7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09160" y="3070555"/>
            <a:ext cx="64008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46320" y="3125419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Year: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12280" y="3116275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2011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046720" y="3161995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$78K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709160" y="3626510"/>
            <a:ext cx="4114800" cy="502920"/>
          </a:xfrm>
          <a:prstGeom prst="rect">
            <a:avLst/>
          </a:prstGeom>
          <a:solidFill>
            <a:srgbClr val="FFFDE7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709160" y="3626510"/>
            <a:ext cx="64008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46320" y="368137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(2022):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812280" y="367223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$131K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8046720" y="371795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09160" y="4182466"/>
            <a:ext cx="4114800" cy="502920"/>
          </a:xfrm>
          <a:prstGeom prst="rect">
            <a:avLst/>
          </a:prstGeom>
          <a:solidFill>
            <a:srgbClr val="FFFDE7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709160" y="4182466"/>
            <a:ext cx="64008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0" y="423733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Maturity Premium: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812280" y="4228186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+57%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8046720" y="427390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avg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  ·  Chart 4: TOTAL SALES BY OUTLET ESTABLISHMENT  ·  March 2026</a:t>
            </a:r>
            <a:endParaRPr lang="en-US" sz="9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FC4A23EF-461D-DC8E-5693-CECACA2AF6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615" t="2628" r="6316" b="64134"/>
          <a:stretch>
            <a:fillRect/>
          </a:stretch>
        </p:blipFill>
        <p:spPr>
          <a:xfrm>
            <a:off x="320040" y="2395728"/>
            <a:ext cx="4050792" cy="20702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9144000" cy="640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kern="0" spc="50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· PERCENTAGE OF SALES BY OUTLET SIZE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47472" y="64922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Analyzing the correlation between outlet size and total sales contribution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161288"/>
            <a:ext cx="4114800" cy="1234440"/>
          </a:xfrm>
          <a:prstGeom prst="rect">
            <a:avLst/>
          </a:prstGeom>
          <a:solidFill>
            <a:srgbClr val="FFFDE7"/>
          </a:solidFill>
          <a:ln w="1905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61288"/>
            <a:ext cx="4114800" cy="640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5272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OBJECTIVE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1527048"/>
            <a:ext cx="38770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the correlation between outlet size (Small, Medium, Large) and total sales to identify which outlet size contributes the most to overall revenue.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161288"/>
            <a:ext cx="4114800" cy="12344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61288"/>
            <a:ext cx="411480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25272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KEY INSIGHT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28032" y="1527048"/>
            <a:ext cx="38770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outlets dominate with 42.3% of total sales ($508K), followed by Small at 37.0% ($445K). Medium-sized stores are the sweet spot — highest return for Blinkit.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709160" y="2514600"/>
            <a:ext cx="4114800" cy="502920"/>
          </a:xfrm>
          <a:prstGeom prst="rect">
            <a:avLst/>
          </a:prstGeom>
          <a:solidFill>
            <a:srgbClr val="FFFDE7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09160" y="2514600"/>
            <a:ext cx="64008" cy="5029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6320" y="256946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Outlets: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812280" y="256032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6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$508K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046720" y="26060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42.3%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09160" y="3070555"/>
            <a:ext cx="4114800" cy="502920"/>
          </a:xfrm>
          <a:prstGeom prst="rect">
            <a:avLst/>
          </a:prstGeom>
          <a:solidFill>
            <a:srgbClr val="FFFDE7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09160" y="3070555"/>
            <a:ext cx="64008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46320" y="3125419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Outlets: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12280" y="3116275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$445K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046720" y="3161995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37.0%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709160" y="3626510"/>
            <a:ext cx="4114800" cy="502920"/>
          </a:xfrm>
          <a:prstGeom prst="rect">
            <a:avLst/>
          </a:prstGeom>
          <a:solidFill>
            <a:srgbClr val="FFFDE7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709160" y="3626510"/>
            <a:ext cx="64008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46320" y="368137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Outlets: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812280" y="367223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$249K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8046720" y="371795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20.7%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09160" y="4182466"/>
            <a:ext cx="4114800" cy="502920"/>
          </a:xfrm>
          <a:prstGeom prst="rect">
            <a:avLst/>
          </a:prstGeom>
          <a:solidFill>
            <a:srgbClr val="FFFDE7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709160" y="4182466"/>
            <a:ext cx="64008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0" y="423733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Performer: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812280" y="4228186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Medium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8046720" y="427390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962878F-EBF0-25C7-9D56-1161927588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291" t="37631" r="24625" b="30648"/>
          <a:stretch>
            <a:fillRect/>
          </a:stretch>
        </p:blipFill>
        <p:spPr>
          <a:xfrm>
            <a:off x="617220" y="2434133"/>
            <a:ext cx="3387852" cy="23408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9144000" cy="640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kern="0" spc="50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· SALES BY OUTLET LOCATION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47472" y="64922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Assessing geographic distribution of sales across different location tiers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161288"/>
            <a:ext cx="4114800" cy="1234440"/>
          </a:xfrm>
          <a:prstGeom prst="rect">
            <a:avLst/>
          </a:prstGeom>
          <a:solidFill>
            <a:srgbClr val="FFFDE7"/>
          </a:solidFill>
          <a:ln w="1905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61288"/>
            <a:ext cx="4114800" cy="640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5272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OBJECTIVE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1527048"/>
            <a:ext cx="38770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 the geographic distribution of total sales across outlet location tiers (Tier 1, Tier 2, Tier 3) to identify which regions drive the most revenue.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161288"/>
            <a:ext cx="4114800" cy="12344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61288"/>
            <a:ext cx="411480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25272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KEY INSIGHT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28032" y="1527048"/>
            <a:ext cx="38770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cities lead at $472K (39.3%), outperforming metro Tier 1 cities ($336K, 28%). Smaller markets show massive untapped demand — priority expansion opportunity.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709160" y="2514600"/>
            <a:ext cx="4114800" cy="502920"/>
          </a:xfrm>
          <a:prstGeom prst="rect">
            <a:avLst/>
          </a:prstGeom>
          <a:solidFill>
            <a:srgbClr val="FFFDE7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09160" y="2514600"/>
            <a:ext cx="64008" cy="502920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46320" y="256946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Cities: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812280" y="256032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69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$472K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046720" y="26060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39.3%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709160" y="3070555"/>
            <a:ext cx="4114800" cy="502920"/>
          </a:xfrm>
          <a:prstGeom prst="rect">
            <a:avLst/>
          </a:prstGeom>
          <a:solidFill>
            <a:srgbClr val="FFFDE7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709160" y="3070555"/>
            <a:ext cx="64008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46320" y="3125419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Cities: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12280" y="3116275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7D3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$393K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046720" y="3161995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32.7%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709160" y="3626510"/>
            <a:ext cx="4114800" cy="502920"/>
          </a:xfrm>
          <a:prstGeom prst="rect">
            <a:avLst/>
          </a:prstGeom>
          <a:solidFill>
            <a:srgbClr val="FFFDE7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709160" y="3626510"/>
            <a:ext cx="64008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46320" y="368137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Cities: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6812280" y="367223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$336K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8046720" y="371795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28.0%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09160" y="4182466"/>
            <a:ext cx="4114800" cy="502920"/>
          </a:xfrm>
          <a:prstGeom prst="rect">
            <a:avLst/>
          </a:prstGeom>
          <a:solidFill>
            <a:srgbClr val="FFFDE7"/>
          </a:solidFill>
          <a:ln w="6350">
            <a:solidFill>
              <a:srgbClr val="E0E0E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709160" y="4182466"/>
            <a:ext cx="64008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0" y="423733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Leads: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812280" y="4228186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#1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8046720" y="4273906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3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794B842-3B08-6FA4-1104-51C0A164BD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610" t="37674" r="4097" b="32923"/>
          <a:stretch>
            <a:fillRect/>
          </a:stretch>
        </p:blipFill>
        <p:spPr>
          <a:xfrm>
            <a:off x="828228" y="2467417"/>
            <a:ext cx="2926262" cy="22742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9144000" cy="640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9144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kern="0" spc="50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 · ALL METRICS BY OUTLET TYPE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47472" y="64922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 · Average Sales · Number of Items · Average Rating by outlet type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20040" y="1161288"/>
            <a:ext cx="4114800" cy="1234440"/>
          </a:xfrm>
          <a:prstGeom prst="rect">
            <a:avLst/>
          </a:prstGeom>
          <a:solidFill>
            <a:srgbClr val="FFFDE7"/>
          </a:solidFill>
          <a:ln w="1905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61288"/>
            <a:ext cx="4114800" cy="640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5272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OBJECTIVE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1527048"/>
            <a:ext cx="38770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a comprehensive view of all key metrics (Total Sales, Average Sales, Number of Items, Average Rating) broken down by each different outlet type.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161288"/>
            <a:ext cx="4114800" cy="12344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61288"/>
            <a:ext cx="4114800" cy="6400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28032" y="125272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KEY INSIGHT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28032" y="1527048"/>
            <a:ext cx="387705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Supermarket Type1 dominates with $787.5K and 5,577 items (65.5% share). Grocery Stores achieve the highest customer rating at 3.99★ despite lower sales volume.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436F85E-DA7B-C8E6-D22D-3ECE15CFA2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5781" t="70594" r="3790" b="6029"/>
          <a:stretch>
            <a:fillRect/>
          </a:stretch>
        </p:blipFill>
        <p:spPr>
          <a:xfrm>
            <a:off x="1063379" y="2634615"/>
            <a:ext cx="6742921" cy="18082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2064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"/>
            <a:ext cx="9144000" cy="5486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6400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POWER BI DASHBOARD 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  ·  Power BI Sales Dashboard  ·  All data from BlinkIT Grocery Dataset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F648C6D-66FF-B71A-886E-94C746E76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560070"/>
            <a:ext cx="8963384" cy="45834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4128"/>
          </a:xfrm>
          <a:prstGeom prst="rect">
            <a:avLst/>
          </a:prstGeom>
          <a:solidFill>
            <a:srgbClr val="F5C518"/>
          </a:solidFill>
          <a:ln w="12700">
            <a:solidFill>
              <a:srgbClr val="F5C51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24128"/>
            <a:ext cx="9144000" cy="640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38328" y="249174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kern="0" spc="50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STRATEGIC RECOMMENDATIONS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47472" y="649224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161288"/>
            <a:ext cx="4169664" cy="1078992"/>
          </a:xfrm>
          <a:prstGeom prst="rect">
            <a:avLst/>
          </a:prstGeom>
          <a:solidFill>
            <a:srgbClr val="FFFDE7"/>
          </a:solidFill>
          <a:ln w="1905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61288"/>
            <a:ext cx="64008" cy="107899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252728"/>
            <a:ext cx="475488" cy="24688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5272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960120" y="125272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🥗 Expand Low Fat Portfolio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600200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Low Fat range by 20–30% to capture 64.6% health-conscious demand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36592" y="1161288"/>
            <a:ext cx="4169664" cy="1078992"/>
          </a:xfrm>
          <a:prstGeom prst="rect">
            <a:avLst/>
          </a:prstGeom>
          <a:solidFill>
            <a:srgbClr val="FFFDE7"/>
          </a:solidFill>
          <a:ln w="1905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36592" y="1161288"/>
            <a:ext cx="64008" cy="107899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73752" y="1252728"/>
            <a:ext cx="475488" cy="24688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252728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422392" y="1252728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🏙️ Tier 3 City Expansion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73752" y="1600200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10–15 new outlets in Tier 3 cities — proven demand at $472K (39.3%)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386584"/>
            <a:ext cx="4169664" cy="1078992"/>
          </a:xfrm>
          <a:prstGeom prst="rect">
            <a:avLst/>
          </a:prstGeom>
          <a:solidFill>
            <a:srgbClr val="FFFDE7"/>
          </a:solidFill>
          <a:ln w="1905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386584"/>
            <a:ext cx="64008" cy="107899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478024"/>
            <a:ext cx="475488" cy="24688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478024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960120" y="247802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🏪 Replicate 1998 Outlet Model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2825496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1998 model generating $205K to improve new store performance by 30–50%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36592" y="2386584"/>
            <a:ext cx="4169664" cy="1078992"/>
          </a:xfrm>
          <a:prstGeom prst="rect">
            <a:avLst/>
          </a:prstGeom>
          <a:solidFill>
            <a:srgbClr val="FFFDE7"/>
          </a:solidFill>
          <a:ln w="1905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36592" y="2386584"/>
            <a:ext cx="64008" cy="10789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73752" y="2478024"/>
            <a:ext cx="475488" cy="2468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2478024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422392" y="2478024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Boost Weak Categories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73752" y="2825496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Seafood ($10K) &amp; Breakfast ($8K) visibility via promotions &amp; placement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611880"/>
            <a:ext cx="4169664" cy="1078992"/>
          </a:xfrm>
          <a:prstGeom prst="rect">
            <a:avLst/>
          </a:prstGeom>
          <a:solidFill>
            <a:srgbClr val="FFFDE7"/>
          </a:solidFill>
          <a:ln w="1905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611880"/>
            <a:ext cx="64008" cy="107899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3703320"/>
            <a:ext cx="475488" cy="24688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70332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960120" y="370332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Improve Outlet Ratings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11480" y="4050792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Supermarket Type3 (3.95★) to match Grocery Store standard (3.99★)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36592" y="3611880"/>
            <a:ext cx="4169664" cy="1078992"/>
          </a:xfrm>
          <a:prstGeom prst="rect">
            <a:avLst/>
          </a:prstGeom>
          <a:solidFill>
            <a:srgbClr val="FFFDE7"/>
          </a:solidFill>
          <a:ln w="19050">
            <a:solidFill>
              <a:srgbClr val="F5C51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736592" y="3611880"/>
            <a:ext cx="64008" cy="1078992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73752" y="3703320"/>
            <a:ext cx="475488" cy="24688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73752" y="3703320"/>
            <a:ext cx="4754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422392" y="3703320"/>
            <a:ext cx="3364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Grow Metro Revenue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873752" y="4050792"/>
            <a:ext cx="39136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 programs in Tier 1 cities to grow metro share from 28% toward 35%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C5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LOW FAT EXPANSION  +  TIER 3 GROWTH  +  1998 MODEL REPLICATION  =  MAXIMUM IMPACT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C5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640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731520"/>
            <a:ext cx="4572000" cy="4572000"/>
          </a:xfrm>
          <a:prstGeom prst="ellipse">
            <a:avLst/>
          </a:prstGeom>
          <a:solidFill>
            <a:srgbClr val="1B5E20">
              <a:alpha val="12000"/>
            </a:srgbClr>
          </a:solidFill>
          <a:ln w="12700">
            <a:solidFill>
              <a:srgbClr val="1B5E20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C51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blinkit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84048" y="7498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1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Last Minute App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0" y="7132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81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Developed by: Ajay Yadla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9" name="Shape 7"/>
          <p:cNvSpPr/>
          <p:nvPr/>
        </p:nvSpPr>
        <p:spPr>
          <a:xfrm>
            <a:off x="457200" y="2377440"/>
            <a:ext cx="6858000" cy="5486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42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Blinkit Sales &amp; Analytics Report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192024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3063240"/>
            <a:ext cx="1920240" cy="640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546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34564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$1.20M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48640" y="38587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42032" y="3063240"/>
            <a:ext cx="192024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42032" y="3063240"/>
            <a:ext cx="1920240" cy="640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33472" y="31546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633472" y="34564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8,523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633472" y="38587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26864" y="3063240"/>
            <a:ext cx="192024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26864" y="3063240"/>
            <a:ext cx="1920240" cy="640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31546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⭐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18304" y="34564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3.97★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718304" y="38587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Rating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711696" y="3063240"/>
            <a:ext cx="1920240" cy="1097280"/>
          </a:xfrm>
          <a:prstGeom prst="rect">
            <a:avLst/>
          </a:prstGeom>
          <a:solidFill>
            <a:srgbClr val="FFFFFF"/>
          </a:solidFill>
          <a:ln w="25400">
            <a:solidFill>
              <a:srgbClr val="1B5E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11696" y="3063240"/>
            <a:ext cx="1920240" cy="6400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03136" y="31546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🥗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03136" y="34564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5E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64.6%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803136" y="385876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46E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Fat Share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by: Ajay Yadla  ·  Data Source: BlinkIT Grocery Dataset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>
              <a:solidFill>
                <a:srgbClr val="F5C51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1396</Words>
  <Application>Microsoft Office PowerPoint</Application>
  <PresentationFormat>On-screen Show (16:9)</PresentationFormat>
  <Paragraphs>243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ajay yadla</cp:lastModifiedBy>
  <cp:revision>2</cp:revision>
  <dcterms:created xsi:type="dcterms:W3CDTF">2026-03-05T16:38:39Z</dcterms:created>
  <dcterms:modified xsi:type="dcterms:W3CDTF">2026-03-05T17:34:10Z</dcterms:modified>
</cp:coreProperties>
</file>